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6" r:id="rId4"/>
    <p:sldId id="272" r:id="rId5"/>
    <p:sldId id="267" r:id="rId6"/>
    <p:sldId id="268" r:id="rId7"/>
    <p:sldId id="269" r:id="rId8"/>
    <p:sldId id="270" r:id="rId9"/>
    <p:sldId id="271" r:id="rId10"/>
    <p:sldId id="273" r:id="rId11"/>
    <p:sldId id="26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BF00"/>
    <a:srgbClr val="181818"/>
    <a:srgbClr val="1F1F1F"/>
    <a:srgbClr val="EFB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726"/>
  </p:normalViewPr>
  <p:slideViewPr>
    <p:cSldViewPr snapToGrid="0">
      <p:cViewPr varScale="1">
        <p:scale>
          <a:sx n="120" d="100"/>
          <a:sy n="120" d="100"/>
        </p:scale>
        <p:origin x="92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F5AB8-DEC0-F669-B6D7-CD1A91B66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29EC91-C08E-62D9-0AB0-72D47AAEF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3F8499-4A97-CF24-932C-D7FB1989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26411E-C742-3C7A-654F-07DC1EF9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B0A444-B8A5-50E8-BC27-B3152F9C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3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A0E6FB-B6DB-99D1-724D-EDEDD5C8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DBC59B-66A2-2C00-7095-B81B9B3C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3A8E0D-CB71-5990-2C79-204550CD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121BD1-BAB4-54CE-D57A-37BB547F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7FC85C-614F-3B02-C39F-B2F3AB32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02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552275-94EF-94D8-A715-84ABD1846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762970-9F0E-1534-FFA1-AD0E7D56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933302-9733-F8D3-D90E-C55308FF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B3DCE0-1792-F325-111B-F2F03320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C3827E-E05B-6874-FD09-2ED0AD7F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90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0EB278-3CA8-E982-E97B-59AFD3ED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E4475C-A6F6-FAB3-C310-C97D1A301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ABA330-AA30-9D5E-8A51-4C6C5F1CF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758A24-1E57-7A84-6FAA-5353331D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51C7AF-68C5-BD9F-B79D-136AAB52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AF3DC3-F024-BF4D-6D93-20DD40C1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22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3FA63-E0D9-60EE-3CEE-E8527263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863F9F-F0B4-0C6E-7E32-F288F91F8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0DD0E2-419B-A7FD-D6CC-58AC3B35A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139290F-55CF-B042-51D6-08A17A8F8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7392275-9889-FE62-1C83-4FDB21C31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9E18B5F-8055-B942-FCC8-0CF77221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D8B388F-C613-49DF-C09C-0CFA1C1B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CE6FC0E-4C95-ABC2-02DE-B459B02F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6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CC3957-1AEB-82D5-EB91-E0412044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53D14B-5437-F3FA-54E3-4D95DD65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F00F75-1BC0-66EF-E0AE-1D198967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983F6E4-62DD-5CEE-4815-E24BCFCE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072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76B452A-5990-A944-829F-59ADB93D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C67785E-A678-4E23-8D44-EC8F8617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0ADE8F-F114-54C8-E367-B80FBD47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477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02D821-77CB-3E21-BC11-64B8E21C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7F9E9C-B81B-3260-055E-AE5A965B0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D40C833-0A51-03AE-C9CD-03535C31E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47EE54-9DED-CC0D-FCBE-DEB08820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1C4CE8-16FD-AE1F-0443-D108BEB5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331C58-3816-ECE5-D5D6-DEB1DC3F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194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70ACF2-112C-AA2D-A2A2-8553E7B2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8FDA786-05DD-EFE3-2ADE-C0E97A634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EDA2F2-C108-04FA-2B32-6098EE2CC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C720FE-C99F-C264-F174-D9A59973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0214816-EC4D-8056-FF00-0661E72E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4F51DD1-69B5-A7EF-93E2-54A8FEA7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18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39BFC-DD8A-B8A8-27DC-960704EA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A56E370-C856-F679-351C-AE132AC3D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E61DA4-A059-749B-AB51-AD30A846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75CBB4-C1FB-DC54-6A4C-52234A22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0FD767-2BA2-3D3C-3138-FBD089FD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16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D37F754-EEF0-ACCD-27C7-B12211A9B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5B20424-9839-A7CA-4A11-B1F51969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CB076A-3089-9DE7-3053-577FF5CF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14A956-F0E0-1A67-367D-386275D2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A1F241-E42D-F6DB-F0E7-28A29062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147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CCC3667-B89E-0840-10BD-CB720399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01A981-9B24-A058-56D6-C06552D0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49CCB0-5E04-5FA9-2573-565A8619B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82A0A-C979-5E42-90B6-49A00A10A4E7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9A3607-D6B7-777A-2EC7-9CFED8B9F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0B2D06-3B6D-09C8-CFDA-F6CEA215D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F3B4B-6946-D44D-BC94-77CE09FCD6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61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74DF4C-BA00-AED6-FB3E-75C5C36F697D}"/>
              </a:ext>
            </a:extLst>
          </p:cNvPr>
          <p:cNvSpPr txBox="1"/>
          <p:nvPr/>
        </p:nvSpPr>
        <p:spPr>
          <a:xfrm>
            <a:off x="1808387" y="2705725"/>
            <a:ext cx="85752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 b="1" noProof="0" dirty="0">
                <a:latin typeface="Helvetica" pitchFamily="2" charset="0"/>
              </a:rPr>
              <a:t>ASSIGNMENT 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183152-BC08-51C1-0048-8CA063EA9BC8}"/>
              </a:ext>
            </a:extLst>
          </p:cNvPr>
          <p:cNvSpPr txBox="1"/>
          <p:nvPr/>
        </p:nvSpPr>
        <p:spPr>
          <a:xfrm>
            <a:off x="4868364" y="2182505"/>
            <a:ext cx="2455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noProof="0" dirty="0">
                <a:latin typeface="Helvetica Light" panose="020B0403020202020204" pitchFamily="34" charset="0"/>
              </a:rPr>
              <a:t>Enrico Barone</a:t>
            </a:r>
          </a:p>
        </p:txBody>
      </p:sp>
      <p:cxnSp>
        <p:nvCxnSpPr>
          <p:cNvPr id="7" name="Connettore dritto 6">
            <a:extLst>
              <a:ext uri="{FF2B5EF4-FFF2-40B4-BE49-F238E27FC236}">
                <a16:creationId xmlns:a16="http://schemas.microsoft.com/office/drawing/2014/main" id="{F22126B7-575B-4095-05F5-EF36577063C5}"/>
              </a:ext>
            </a:extLst>
          </p:cNvPr>
          <p:cNvCxnSpPr>
            <a:cxnSpLocks/>
          </p:cNvCxnSpPr>
          <p:nvPr/>
        </p:nvCxnSpPr>
        <p:spPr>
          <a:xfrm>
            <a:off x="3322320" y="2705725"/>
            <a:ext cx="5547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4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41AF-EF98-C46F-C519-6294A9DD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guale 21">
            <a:extLst>
              <a:ext uri="{FF2B5EF4-FFF2-40B4-BE49-F238E27FC236}">
                <a16:creationId xmlns:a16="http://schemas.microsoft.com/office/drawing/2014/main" id="{F2E92A12-C77B-7444-7808-6643D658A014}"/>
              </a:ext>
            </a:extLst>
          </p:cNvPr>
          <p:cNvSpPr/>
          <p:nvPr/>
        </p:nvSpPr>
        <p:spPr>
          <a:xfrm>
            <a:off x="7073056" y="4210069"/>
            <a:ext cx="1369649" cy="933112"/>
          </a:xfrm>
          <a:prstGeom prst="mathEqual">
            <a:avLst>
              <a:gd name="adj1" fmla="val 23520"/>
              <a:gd name="adj2" fmla="val 1542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0FA68E9-AD9C-5293-FD47-53001B7AB0DB}"/>
              </a:ext>
            </a:extLst>
          </p:cNvPr>
          <p:cNvSpPr>
            <a:spLocks/>
          </p:cNvSpPr>
          <p:nvPr/>
        </p:nvSpPr>
        <p:spPr>
          <a:xfrm>
            <a:off x="1628501" y="722811"/>
            <a:ext cx="3692435" cy="89480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DD7F04-5D3E-72CB-7A0E-97AC493880BE}"/>
              </a:ext>
            </a:extLst>
          </p:cNvPr>
          <p:cNvSpPr txBox="1"/>
          <p:nvPr/>
        </p:nvSpPr>
        <p:spPr>
          <a:xfrm>
            <a:off x="648790" y="786620"/>
            <a:ext cx="5752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noProof="0" dirty="0">
                <a:latin typeface="Helvetica" pitchFamily="2" charset="0"/>
              </a:rPr>
              <a:t>LA CONSEGNA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2357A8-27CD-E25B-BB03-8E586E9C9AF1}"/>
              </a:ext>
            </a:extLst>
          </p:cNvPr>
          <p:cNvSpPr txBox="1"/>
          <p:nvPr/>
        </p:nvSpPr>
        <p:spPr>
          <a:xfrm>
            <a:off x="648790" y="1863629"/>
            <a:ext cx="10942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>
                <a:latin typeface="Helvetica Light" panose="020B0403020202020204" pitchFamily="34" charset="0"/>
              </a:rPr>
              <a:t>La consegna aveva come obiettivo la registrazione di immagini, cioè </a:t>
            </a:r>
            <a:r>
              <a:rPr lang="it-IT" sz="1600" b="1" dirty="0">
                <a:latin typeface="Helvetica" pitchFamily="2" charset="0"/>
              </a:rPr>
              <a:t>l’allineamento tra un’immagine di riferimento e una da trasformare</a:t>
            </a:r>
            <a:r>
              <a:rPr lang="it-IT" sz="1600" dirty="0">
                <a:latin typeface="Helvetica Light" panose="020B0403020202020204" pitchFamily="34" charset="0"/>
              </a:rPr>
              <a:t>. Lo scopo era stimare i parametri geometrici necessari per ottenere la migliore sovrapposizione possibile tra le due immagini utilizzando la </a:t>
            </a:r>
            <a:r>
              <a:rPr lang="it-IT" sz="1600" b="1" dirty="0">
                <a:latin typeface="Helvetica" pitchFamily="2" charset="0"/>
              </a:rPr>
              <a:t>Mutua Informazione</a:t>
            </a:r>
            <a:r>
              <a:rPr lang="it-IT" sz="1600" dirty="0">
                <a:latin typeface="Helvetica" pitchFamily="2" charset="0"/>
              </a:rPr>
              <a:t>.</a:t>
            </a:r>
            <a:endParaRPr lang="it-IT" sz="1600" noProof="0" dirty="0">
              <a:latin typeface="Helvetica" pitchFamily="2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8B43AE7-4DAD-7FA3-5557-E7B0039F5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62" y="3145044"/>
            <a:ext cx="2990145" cy="299014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CE318DA-0F66-59A5-EFCE-CB9321431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49" y="3145044"/>
            <a:ext cx="2990145" cy="2990145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DEBED374-9392-AAD1-9F76-326540B4B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4162" y="4149337"/>
            <a:ext cx="827555" cy="82755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EB1A869A-573F-7062-95DC-9FB95D3F68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442705" y="3145043"/>
            <a:ext cx="2990145" cy="299014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D9FE902E-3C5C-4F82-95FF-3592866D30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212174">
            <a:off x="8231571" y="3443522"/>
            <a:ext cx="2990145" cy="2990145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00E4433F-2CE1-DA54-3067-04F0B05AC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4328" y="4421613"/>
            <a:ext cx="619347" cy="619347"/>
          </a:xfrm>
          <a:prstGeom prst="rect">
            <a:avLst/>
          </a:prstGeom>
        </p:spPr>
      </p:pic>
      <p:sp>
        <p:nvSpPr>
          <p:cNvPr id="23" name="Più 22">
            <a:extLst>
              <a:ext uri="{FF2B5EF4-FFF2-40B4-BE49-F238E27FC236}">
                <a16:creationId xmlns:a16="http://schemas.microsoft.com/office/drawing/2014/main" id="{B98760D5-9187-400E-4802-3B0F3FD6AC3D}"/>
              </a:ext>
            </a:extLst>
          </p:cNvPr>
          <p:cNvSpPr/>
          <p:nvPr/>
        </p:nvSpPr>
        <p:spPr>
          <a:xfrm>
            <a:off x="5349705" y="4516039"/>
            <a:ext cx="460074" cy="422555"/>
          </a:xfrm>
          <a:prstGeom prst="mathPlus">
            <a:avLst>
              <a:gd name="adj1" fmla="val 99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754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DE75-DF59-1444-81AF-482474D9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DE8FAEE-F72E-B9EA-D707-A79287452F0D}"/>
              </a:ext>
            </a:extLst>
          </p:cNvPr>
          <p:cNvSpPr>
            <a:spLocks/>
          </p:cNvSpPr>
          <p:nvPr/>
        </p:nvSpPr>
        <p:spPr>
          <a:xfrm>
            <a:off x="1227901" y="722811"/>
            <a:ext cx="3944989" cy="89480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742C16-BB48-5BBA-BF10-08FE86BAF00D}"/>
              </a:ext>
            </a:extLst>
          </p:cNvPr>
          <p:cNvSpPr txBox="1"/>
          <p:nvPr/>
        </p:nvSpPr>
        <p:spPr>
          <a:xfrm>
            <a:off x="648790" y="786620"/>
            <a:ext cx="5752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noProof="0" dirty="0">
                <a:latin typeface="Helvetica" pitchFamily="2" charset="0"/>
              </a:rPr>
              <a:t>L’ APPROCCIO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82D8FCC-ED2F-D243-1185-5C63021A3C7B}"/>
                  </a:ext>
                </a:extLst>
              </p:cNvPr>
              <p:cNvSpPr txBox="1"/>
              <p:nvPr/>
            </p:nvSpPr>
            <p:spPr>
              <a:xfrm>
                <a:off x="624840" y="1951672"/>
                <a:ext cx="10942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600" noProof="0" dirty="0">
                    <a:latin typeface="Helvetica Light" panose="020B0403020202020204" pitchFamily="34" charset="0"/>
                  </a:rPr>
                  <a:t>Nel concreto ho strutturato l’esecuzione con un doppio ciclo: per ogni valore di bin dell’istogramma ho testato tutti i metodi di ottimizzazione previsti. </a:t>
                </a:r>
              </a:p>
              <a:p>
                <a:pPr algn="just"/>
                <a:endParaRPr lang="it-IT" sz="1600" noProof="0" dirty="0">
                  <a:latin typeface="Helvetica Light" panose="020B0403020202020204" pitchFamily="34" charset="0"/>
                </a:endParaRPr>
              </a:p>
              <a:p>
                <a:pPr algn="just"/>
                <a:r>
                  <a:rPr lang="it-IT" sz="1600" noProof="0" dirty="0">
                    <a:latin typeface="Helvetica Light" panose="020B0403020202020204" pitchFamily="34" charset="0"/>
                  </a:rPr>
                  <a:t>Per ogni combinazione metodo-bin, il codice elabora tutte le coppie di immagini, stima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600" b="0" i="0" noProof="0" smtClean="0">
                        <a:latin typeface="Cambria Math" panose="02040503050406030204" pitchFamily="18" charset="0"/>
                      </a:rPr>
                      <m:t>tx</m:t>
                    </m:r>
                  </m:oMath>
                </a14:m>
                <a:r>
                  <a:rPr lang="it-IT" sz="1600" noProof="0" dirty="0">
                    <a:latin typeface="Helvetica Light" panose="020B0403020202020204" pitchFamily="34" charset="0"/>
                  </a:rPr>
                  <a:t>,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600" b="0" i="0" noProof="0" smtClean="0">
                        <a:latin typeface="Cambria Math" panose="02040503050406030204" pitchFamily="18" charset="0"/>
                      </a:rPr>
                      <m:t>ty</m:t>
                    </m:r>
                  </m:oMath>
                </a14:m>
                <a:r>
                  <a:rPr lang="it-IT" sz="1600" noProof="0" dirty="0">
                    <a:latin typeface="Helvetica Light" panose="020B0403020202020204" pitchFamily="34" charset="0"/>
                  </a:rPr>
                  <a:t> e angolo, salva i risultati e poi ne valuta gli errori rispetto al ground truth.</a:t>
                </a: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82D8FCC-ED2F-D243-1185-5C63021A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" y="1951672"/>
                <a:ext cx="10942319" cy="1323439"/>
              </a:xfrm>
              <a:prstGeom prst="rect">
                <a:avLst/>
              </a:prstGeom>
              <a:blipFill>
                <a:blip r:embed="rId2"/>
                <a:stretch>
                  <a:fillRect l="-348" t="-952" r="-348" b="-57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>
            <a:extLst>
              <a:ext uri="{FF2B5EF4-FFF2-40B4-BE49-F238E27FC236}">
                <a16:creationId xmlns:a16="http://schemas.microsoft.com/office/drawing/2014/main" id="{F1F35480-1C78-6E8C-B758-52E660B91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7086" y="3927566"/>
            <a:ext cx="12279086" cy="2939142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43922B1-52F8-527B-3DC6-40D165520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0" y="4219831"/>
            <a:ext cx="7772400" cy="235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2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7C3A-1D2B-74A2-189E-95E67D2A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199DBE3-567C-5189-B043-7CA0590DAC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7086" y="-8709"/>
            <a:ext cx="12279086" cy="7001691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04D81FC-BD6D-D5B1-8491-2BBE886FC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821" y="4683362"/>
            <a:ext cx="4607696" cy="174107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D529CF6-8414-8614-F11F-4F698F08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762" y="271517"/>
            <a:ext cx="3855298" cy="358887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B94E967-04EE-9E43-3C0B-8CFE12D1E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995" y="1914264"/>
            <a:ext cx="4767069" cy="2475041"/>
          </a:xfrm>
          <a:prstGeom prst="rect">
            <a:avLst/>
          </a:prstGeom>
        </p:spPr>
      </p:pic>
      <p:pic>
        <p:nvPicPr>
          <p:cNvPr id="1026" name="Picture 2" descr="Download premium png of Arrow png sticker, transparent background by Busbus  about curved arrow, hand drawn arrow, pencil arrow, curved arrow graphic,  and arrow 8789999">
            <a:extLst>
              <a:ext uri="{FF2B5EF4-FFF2-40B4-BE49-F238E27FC236}">
                <a16:creationId xmlns:a16="http://schemas.microsoft.com/office/drawing/2014/main" id="{82EB96F0-4E44-DC88-C965-4F10B1D11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00" b="93000" l="9910" r="89940">
                        <a14:foregroundMark x1="39640" y1="11100" x2="52430" y2="9114"/>
                        <a14:foregroundMark x1="56212" y1="6197" x2="53552" y2="6111"/>
                        <a14:foregroundMark x1="53565" y1="6098" x2="56558" y2="6183"/>
                        <a14:foregroundMark x1="62462" y1="93100" x2="68018" y2="91300"/>
                        <a14:foregroundMark x1="51952" y1="7500" x2="66066" y2="5600"/>
                        <a14:foregroundMark x1="66066" y1="5600" x2="69520" y2="5600"/>
                        <a14:backgroundMark x1="61625" y1="7510" x2="68619" y2="8000"/>
                        <a14:backgroundMark x1="55706" y1="9500" x2="56907" y2="8700"/>
                        <a14:backgroundMark x1="54955" y1="9300" x2="68318" y2="8200"/>
                        <a14:backgroundMark x1="51688" y1="7811" x2="51201" y2="7800"/>
                        <a14:backgroundMark x1="68318" y1="8200" x2="58246" y2="7965"/>
                        <a14:backgroundMark x1="63170" y1="7302" x2="65616" y2="7200"/>
                        <a14:backgroundMark x1="51201" y1="7800" x2="51716" y2="7779"/>
                        <a14:backgroundMark x1="65616" y1="7200" x2="63664" y2="7700"/>
                        <a14:backgroundMark x1="63664" y1="7800" x2="64475" y2="7476"/>
                        <a14:backgroundMark x1="67417" y1="7200" x2="65916" y2="7200"/>
                        <a14:backgroundMark x1="49550" y1="5900" x2="53309" y2="5900"/>
                        <a14:backgroundMark x1="67330" y1="7035" x2="67568" y2="7400"/>
                      </a14:backgroundRemoval>
                    </a14:imgEffect>
                    <a14:imgEffect>
                      <a14:artisticPhotocopy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89776" flipV="1">
            <a:off x="5647471" y="179170"/>
            <a:ext cx="968040" cy="145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72BD5325-50FC-18DF-68D3-E061EDBC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522186">
            <a:off x="7116949" y="4272565"/>
            <a:ext cx="1739900" cy="14859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1182061-70BB-DE2E-C7A1-A48E3CE43B38}"/>
              </a:ext>
            </a:extLst>
          </p:cNvPr>
          <p:cNvSpPr txBox="1"/>
          <p:nvPr/>
        </p:nvSpPr>
        <p:spPr>
          <a:xfrm>
            <a:off x="70982" y="302359"/>
            <a:ext cx="169977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chemeClr val="bg1"/>
                </a:solidFill>
                <a:latin typeface="Helvetica" pitchFamily="2" charset="0"/>
              </a:rPr>
              <a:t>Mutua Informazione: </a:t>
            </a:r>
            <a:r>
              <a:rPr lang="it-IT" sz="16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valuta quanto le due immagini risultano statisticamente dipendenti, seguendo le procedure della consegna</a:t>
            </a:r>
            <a:endParaRPr lang="it-IT" noProof="0" dirty="0">
              <a:solidFill>
                <a:schemeClr val="bg1"/>
              </a:solidFill>
              <a:latin typeface="Helvetica Light" panose="020B0403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125839B-17CF-F129-E89E-5ADE5A89685C}"/>
              </a:ext>
            </a:extLst>
          </p:cNvPr>
          <p:cNvSpPr txBox="1"/>
          <p:nvPr/>
        </p:nvSpPr>
        <p:spPr>
          <a:xfrm>
            <a:off x="9771017" y="1914264"/>
            <a:ext cx="23500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b="1" noProof="0" dirty="0">
                <a:solidFill>
                  <a:schemeClr val="bg1"/>
                </a:solidFill>
                <a:latin typeface="Helvetica" pitchFamily="2" charset="0"/>
              </a:rPr>
              <a:t>Funzione Obiettivo: </a:t>
            </a:r>
          </a:p>
          <a:p>
            <a:pPr algn="r"/>
            <a:r>
              <a:rPr lang="it-IT" sz="16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calcola la similarità dopo aver trasformato l’immagine mobile attraverso la matrice di trasformazione T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98EC1A3-0435-C49D-EF6B-F923752BF658}"/>
              </a:ext>
            </a:extLst>
          </p:cNvPr>
          <p:cNvSpPr txBox="1"/>
          <p:nvPr/>
        </p:nvSpPr>
        <p:spPr>
          <a:xfrm>
            <a:off x="391891" y="4773854"/>
            <a:ext cx="271293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chemeClr val="bg1"/>
                </a:solidFill>
                <a:latin typeface="Helvetica" pitchFamily="2" charset="0"/>
              </a:rPr>
              <a:t>Massimizzazione: </a:t>
            </a:r>
          </a:p>
          <a:p>
            <a:r>
              <a:rPr lang="it-IT" sz="1600" noProof="0" dirty="0">
                <a:solidFill>
                  <a:schemeClr val="bg1"/>
                </a:solidFill>
                <a:latin typeface="Helvetica" pitchFamily="2" charset="0"/>
              </a:rPr>
              <a:t>trova i parametri che rendono massimo l’allineamento finale tramite metodo di scipy .minimize()</a:t>
            </a:r>
          </a:p>
        </p:txBody>
      </p:sp>
    </p:spTree>
    <p:extLst>
      <p:ext uri="{BB962C8B-B14F-4D97-AF65-F5344CB8AC3E}">
        <p14:creationId xmlns:p14="http://schemas.microsoft.com/office/powerpoint/2010/main" val="409144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4448-EDEA-D986-E6D4-B3BBBA00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495C767A-0DBC-3D7F-6922-26010DD7BF81}"/>
              </a:ext>
            </a:extLst>
          </p:cNvPr>
          <p:cNvSpPr>
            <a:spLocks/>
          </p:cNvSpPr>
          <p:nvPr/>
        </p:nvSpPr>
        <p:spPr>
          <a:xfrm>
            <a:off x="2778027" y="722811"/>
            <a:ext cx="3744694" cy="89480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67E75F-13C7-DB01-4142-BE27BAB326C3}"/>
              </a:ext>
            </a:extLst>
          </p:cNvPr>
          <p:cNvSpPr txBox="1"/>
          <p:nvPr/>
        </p:nvSpPr>
        <p:spPr>
          <a:xfrm>
            <a:off x="648789" y="786620"/>
            <a:ext cx="6979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noProof="0" dirty="0">
                <a:latin typeface="Helvetica" pitchFamily="2" charset="0"/>
              </a:rPr>
              <a:t>PRIMA DIFFICOLTÀ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A7F86A8-D5E0-2D73-3251-776FAD93BD95}"/>
              </a:ext>
            </a:extLst>
          </p:cNvPr>
          <p:cNvSpPr txBox="1"/>
          <p:nvPr/>
        </p:nvSpPr>
        <p:spPr>
          <a:xfrm>
            <a:off x="648791" y="1951672"/>
            <a:ext cx="45937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noProof="0" dirty="0">
                <a:latin typeface="Helvetica Light" panose="020B0403020202020204" pitchFamily="34" charset="0"/>
              </a:rPr>
              <a:t>Il primo problema affrontato ha riguardato i metodi </a:t>
            </a:r>
            <a:r>
              <a:rPr lang="it-IT" sz="1600" noProof="0" dirty="0" err="1">
                <a:latin typeface="Helvetica Light" panose="020B0403020202020204" pitchFamily="34" charset="0"/>
              </a:rPr>
              <a:t>Nelder</a:t>
            </a:r>
            <a:r>
              <a:rPr lang="it-IT" sz="1600" noProof="0" dirty="0">
                <a:latin typeface="Helvetica Light" panose="020B0403020202020204" pitchFamily="34" charset="0"/>
              </a:rPr>
              <a:t>-Mead e BFGS, che restituivano matrici di risultati </a:t>
            </a:r>
            <a:r>
              <a:rPr lang="it-IT" sz="1600" b="1" noProof="0" dirty="0">
                <a:latin typeface="Helvetica" pitchFamily="2" charset="0"/>
              </a:rPr>
              <a:t>composte da soli valori nulli</a:t>
            </a:r>
            <a:r>
              <a:rPr lang="it-IT" sz="1600" noProof="0" dirty="0">
                <a:latin typeface="Helvetica Light" panose="020B0403020202020204" pitchFamily="34" charset="0"/>
              </a:rPr>
              <a:t>, indipendentemente dal numero di bin scelto. </a:t>
            </a:r>
          </a:p>
          <a:p>
            <a:pPr algn="just"/>
            <a:endParaRPr lang="it-IT" sz="1600" noProof="0" dirty="0">
              <a:latin typeface="Helvetica Light" panose="020B0403020202020204" pitchFamily="34" charset="0"/>
            </a:endParaRPr>
          </a:p>
          <a:p>
            <a:pPr algn="just"/>
            <a:r>
              <a:rPr lang="it-IT" sz="1600" noProof="0" dirty="0">
                <a:latin typeface="Helvetica Light" panose="020B0403020202020204" pitchFamily="34" charset="0"/>
              </a:rPr>
              <a:t>Questo comportamento rimaneva invariato anche modificando il preprocessing applicato alle immagini.</a:t>
            </a:r>
          </a:p>
          <a:p>
            <a:pPr algn="just"/>
            <a:endParaRPr lang="it-IT" sz="1600" noProof="0" dirty="0">
              <a:latin typeface="Helvetica Light" panose="020B0403020202020204" pitchFamily="34" charset="0"/>
            </a:endParaRPr>
          </a:p>
          <a:p>
            <a:pPr algn="just"/>
            <a:r>
              <a:rPr lang="it-IT" sz="1600" noProof="0" dirty="0">
                <a:latin typeface="Helvetica Light" panose="020B0403020202020204" pitchFamily="34" charset="0"/>
              </a:rPr>
              <a:t>Dopo alcune analisi sul funzionamento di minimize(), ho capito che il problema era legato alla fase iniziale dell’ottimizzazione. </a:t>
            </a:r>
            <a:r>
              <a:rPr lang="it-IT" sz="1600" noProof="0" dirty="0" err="1">
                <a:latin typeface="Helvetica Light" panose="020B0403020202020204" pitchFamily="34" charset="0"/>
              </a:rPr>
              <a:t>Nelder</a:t>
            </a:r>
            <a:r>
              <a:rPr lang="it-IT" sz="1600" noProof="0" dirty="0">
                <a:latin typeface="Helvetica Light" panose="020B0403020202020204" pitchFamily="34" charset="0"/>
              </a:rPr>
              <a:t>-Mead e BFGS partivano da una configurazione iniziale (0,0,0) e, con le impostazioni predefinite, effettuavano variazioni troppo piccole sui parametri. Di conseguenza l’ottimizzazione rimaneva vicina al punto iniziale e restituiva spesso stime nulle per traslazioni e rotazione.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88C6CC0-F47A-FDAC-4C7D-FE27A42A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1" y="1951672"/>
            <a:ext cx="5882637" cy="178793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3A973AC-980E-2BB0-9D4E-E17C0AA6D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1" y="4708306"/>
            <a:ext cx="5882637" cy="178793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478D255-572F-9FDC-635E-A9B3D5BCE076}"/>
              </a:ext>
            </a:extLst>
          </p:cNvPr>
          <p:cNvSpPr txBox="1"/>
          <p:nvPr/>
        </p:nvSpPr>
        <p:spPr>
          <a:xfrm>
            <a:off x="7036527" y="3931570"/>
            <a:ext cx="395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noProof="0" dirty="0">
                <a:latin typeface="Helvetica Light" panose="020B0403020202020204" pitchFamily="34" charset="0"/>
              </a:rPr>
              <a:t>Valori prossimi allo zero ed errori praticamente massimi</a:t>
            </a:r>
          </a:p>
        </p:txBody>
      </p:sp>
      <p:pic>
        <p:nvPicPr>
          <p:cNvPr id="9" name="Picture 2" descr="Download premium png of Arrow png sticker, transparent background by Busbus  about curved arrow, hand drawn arrow, pencil arrow, curved arrow graphic,  and arrow 8789999">
            <a:extLst>
              <a:ext uri="{FF2B5EF4-FFF2-40B4-BE49-F238E27FC236}">
                <a16:creationId xmlns:a16="http://schemas.microsoft.com/office/drawing/2014/main" id="{B37A37DF-122C-5DC6-A956-D59B84645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00" b="93000" l="9910" r="89940">
                        <a14:foregroundMark x1="39640" y1="11100" x2="52430" y2="9114"/>
                        <a14:foregroundMark x1="56212" y1="6197" x2="53552" y2="6111"/>
                        <a14:foregroundMark x1="53565" y1="6098" x2="56558" y2="6183"/>
                        <a14:foregroundMark x1="62462" y1="93100" x2="68018" y2="91300"/>
                        <a14:foregroundMark x1="51952" y1="7500" x2="66066" y2="5600"/>
                        <a14:foregroundMark x1="66066" y1="5600" x2="69520" y2="5600"/>
                        <a14:backgroundMark x1="61625" y1="7510" x2="68619" y2="8000"/>
                        <a14:backgroundMark x1="55706" y1="9500" x2="56907" y2="8700"/>
                        <a14:backgroundMark x1="54955" y1="9300" x2="68318" y2="8200"/>
                        <a14:backgroundMark x1="51688" y1="7811" x2="51201" y2="7800"/>
                        <a14:backgroundMark x1="68318" y1="8200" x2="58246" y2="7965"/>
                        <a14:backgroundMark x1="63170" y1="7302" x2="65616" y2="7200"/>
                        <a14:backgroundMark x1="51201" y1="7800" x2="51716" y2="7779"/>
                        <a14:backgroundMark x1="65616" y1="7200" x2="63664" y2="7700"/>
                        <a14:backgroundMark x1="63664" y1="7800" x2="64475" y2="7476"/>
                        <a14:backgroundMark x1="67417" y1="7200" x2="65916" y2="7200"/>
                        <a14:backgroundMark x1="49550" y1="5900" x2="53309" y2="5900"/>
                        <a14:backgroundMark x1="67330" y1="7035" x2="67568" y2="7400"/>
                      </a14:backgroundRemoval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95580" flipV="1">
            <a:off x="6117562" y="3727259"/>
            <a:ext cx="720067" cy="108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ownload premium png of Arrow png sticker, transparent background by Busbus  about curved arrow, hand drawn arrow, pencil arrow, curved arrow graphic,  and arrow 8789999">
            <a:extLst>
              <a:ext uri="{FF2B5EF4-FFF2-40B4-BE49-F238E27FC236}">
                <a16:creationId xmlns:a16="http://schemas.microsoft.com/office/drawing/2014/main" id="{7093031F-F1CD-9687-5647-A19164B62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00" b="93000" l="9910" r="89940">
                        <a14:foregroundMark x1="39640" y1="11100" x2="52430" y2="9114"/>
                        <a14:foregroundMark x1="56212" y1="6197" x2="53552" y2="6111"/>
                        <a14:foregroundMark x1="53565" y1="6098" x2="56558" y2="6183"/>
                        <a14:foregroundMark x1="62462" y1="93100" x2="68018" y2="91300"/>
                        <a14:foregroundMark x1="51952" y1="7500" x2="66066" y2="5600"/>
                        <a14:foregroundMark x1="66066" y1="5600" x2="69520" y2="5600"/>
                        <a14:backgroundMark x1="61625" y1="7510" x2="68619" y2="8000"/>
                        <a14:backgroundMark x1="55706" y1="9500" x2="56907" y2="8700"/>
                        <a14:backgroundMark x1="54955" y1="9300" x2="68318" y2="8200"/>
                        <a14:backgroundMark x1="51688" y1="7811" x2="51201" y2="7800"/>
                        <a14:backgroundMark x1="68318" y1="8200" x2="58246" y2="7965"/>
                        <a14:backgroundMark x1="63170" y1="7302" x2="65616" y2="7200"/>
                        <a14:backgroundMark x1="51201" y1="7800" x2="51716" y2="7779"/>
                        <a14:backgroundMark x1="65616" y1="7200" x2="63664" y2="7700"/>
                        <a14:backgroundMark x1="63664" y1="7800" x2="64475" y2="7476"/>
                        <a14:backgroundMark x1="67417" y1="7200" x2="65916" y2="7200"/>
                        <a14:backgroundMark x1="49550" y1="5900" x2="53309" y2="5900"/>
                        <a14:backgroundMark x1="67330" y1="7035" x2="67568" y2="7400"/>
                      </a14:backgroundRemoval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985389" flipV="1">
            <a:off x="10320354" y="3658967"/>
            <a:ext cx="720067" cy="108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FD86-8691-7B4B-98B3-6A729592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4040A02-135B-3490-0A39-BD4ABC8F5E95}"/>
              </a:ext>
            </a:extLst>
          </p:cNvPr>
          <p:cNvSpPr>
            <a:spLocks/>
          </p:cNvSpPr>
          <p:nvPr/>
        </p:nvSpPr>
        <p:spPr>
          <a:xfrm>
            <a:off x="609583" y="722811"/>
            <a:ext cx="3823077" cy="8948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628BA9-CA82-270B-B29C-AB70255896CD}"/>
              </a:ext>
            </a:extLst>
          </p:cNvPr>
          <p:cNvSpPr txBox="1"/>
          <p:nvPr/>
        </p:nvSpPr>
        <p:spPr>
          <a:xfrm>
            <a:off x="648789" y="786620"/>
            <a:ext cx="6979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noProof="0" dirty="0">
                <a:solidFill>
                  <a:schemeClr val="bg1"/>
                </a:solidFill>
                <a:latin typeface="Helvetica" pitchFamily="2" charset="0"/>
              </a:rPr>
              <a:t>SOLUZIONE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AE81F94-9176-F85A-9439-1E088EFBCC18}"/>
              </a:ext>
            </a:extLst>
          </p:cNvPr>
          <p:cNvSpPr/>
          <p:nvPr/>
        </p:nvSpPr>
        <p:spPr>
          <a:xfrm>
            <a:off x="5695406" y="-340242"/>
            <a:ext cx="6496594" cy="7308672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6324500-125B-EB44-3650-41D661093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51672"/>
            <a:ext cx="5795916" cy="322369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182CDA-E271-F5EC-8A30-C3FE4623C81D}"/>
              </a:ext>
            </a:extLst>
          </p:cNvPr>
          <p:cNvSpPr txBox="1"/>
          <p:nvPr/>
        </p:nvSpPr>
        <p:spPr>
          <a:xfrm>
            <a:off x="609583" y="1951672"/>
            <a:ext cx="459377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noProof="0" dirty="0">
                <a:latin typeface="Helvetica Light" panose="020B0403020202020204" pitchFamily="34" charset="0"/>
              </a:rPr>
              <a:t>Per risolvere il problema ho lasciato il punto iniziale (0,0,0), ma ho modificato il modo in cui l’ottimizzazione esplora il suo intorno nella funzione </a:t>
            </a:r>
            <a:r>
              <a:rPr lang="it-IT" sz="1600" noProof="0" dirty="0" err="1">
                <a:latin typeface="Helvetica Light" panose="020B0403020202020204" pitchFamily="34" charset="0"/>
              </a:rPr>
              <a:t>massimizza_mutua_informazione</a:t>
            </a:r>
            <a:r>
              <a:rPr lang="it-IT" sz="1600" noProof="0" dirty="0">
                <a:latin typeface="Helvetica Light" panose="020B0403020202020204" pitchFamily="34" charset="0"/>
              </a:rPr>
              <a:t>().</a:t>
            </a:r>
          </a:p>
          <a:p>
            <a:pPr algn="just"/>
            <a:endParaRPr lang="it-IT" sz="1600" noProof="0" dirty="0">
              <a:latin typeface="Helvetica Light" panose="020B0403020202020204" pitchFamily="34" charset="0"/>
            </a:endParaRPr>
          </a:p>
          <a:p>
            <a:pPr algn="just"/>
            <a:r>
              <a:rPr lang="it-IT" sz="1600" b="1" noProof="0" dirty="0">
                <a:latin typeface="Helvetica" pitchFamily="2" charset="0"/>
              </a:rPr>
              <a:t>Per </a:t>
            </a:r>
            <a:r>
              <a:rPr lang="it-IT" sz="1600" b="1" noProof="0" dirty="0" err="1">
                <a:latin typeface="Helvetica" pitchFamily="2" charset="0"/>
              </a:rPr>
              <a:t>Nelder</a:t>
            </a:r>
            <a:r>
              <a:rPr lang="it-IT" sz="1600" b="1" noProof="0" dirty="0">
                <a:latin typeface="Helvetica" pitchFamily="2" charset="0"/>
              </a:rPr>
              <a:t>-Mead </a:t>
            </a:r>
            <a:r>
              <a:rPr lang="it-IT" sz="1600" noProof="0" dirty="0">
                <a:latin typeface="Helvetica Light" panose="020B0403020202020204" pitchFamily="34" charset="0"/>
              </a:rPr>
              <a:t>ho definito un </a:t>
            </a:r>
            <a:r>
              <a:rPr lang="it-IT" sz="1600" noProof="0" dirty="0" err="1">
                <a:latin typeface="Helvetica Light" panose="020B0403020202020204" pitchFamily="34" charset="0"/>
              </a:rPr>
              <a:t>initial_simplex</a:t>
            </a:r>
            <a:r>
              <a:rPr lang="it-IT" sz="1600" noProof="0" dirty="0">
                <a:latin typeface="Helvetica Light" panose="020B0403020202020204" pitchFamily="34" charset="0"/>
              </a:rPr>
              <a:t> esplicito, costruito con variazioni sui tre parametri (</a:t>
            </a:r>
            <a:r>
              <a:rPr lang="it-IT" sz="1600" noProof="0" dirty="0" err="1">
                <a:latin typeface="Helvetica Light" panose="020B0403020202020204" pitchFamily="34" charset="0"/>
              </a:rPr>
              <a:t>tx,ty,θ</a:t>
            </a:r>
            <a:r>
              <a:rPr lang="it-IT" sz="1600" noProof="0" dirty="0">
                <a:latin typeface="Helvetica Light" panose="020B0403020202020204" pitchFamily="34" charset="0"/>
              </a:rPr>
              <a:t>). In particolare, ho introdotto variazioni di 1 pixel sulle traslazioni e di 0.01 radianti sull’angolo, evitando che il simplesso di default risultasse troppo piccolo.</a:t>
            </a:r>
          </a:p>
          <a:p>
            <a:pPr algn="just"/>
            <a:endParaRPr lang="it-IT" sz="1600" noProof="0" dirty="0">
              <a:latin typeface="Helvetica Light" panose="020B0403020202020204" pitchFamily="34" charset="0"/>
            </a:endParaRPr>
          </a:p>
          <a:p>
            <a:pPr algn="just"/>
            <a:r>
              <a:rPr lang="it-IT" sz="1600" b="1" noProof="0" dirty="0">
                <a:latin typeface="Helvetica" pitchFamily="2" charset="0"/>
              </a:rPr>
              <a:t>Per BFGS </a:t>
            </a:r>
            <a:r>
              <a:rPr lang="it-IT" sz="1600" noProof="0" dirty="0">
                <a:latin typeface="Helvetica Light" panose="020B0403020202020204" pitchFamily="34" charset="0"/>
              </a:rPr>
              <a:t>ho impostato </a:t>
            </a:r>
            <a:r>
              <a:rPr lang="it-IT" sz="1600" noProof="0" dirty="0" err="1">
                <a:latin typeface="Helvetica Light" panose="020B0403020202020204" pitchFamily="34" charset="0"/>
              </a:rPr>
              <a:t>eps</a:t>
            </a:r>
            <a:r>
              <a:rPr lang="it-IT" sz="1600" noProof="0" dirty="0">
                <a:latin typeface="Helvetica Light" panose="020B0403020202020204" pitchFamily="34" charset="0"/>
              </a:rPr>
              <a:t> = [1, 1, 0.01], cioè il passo usato per l’approssimazione numerica del gradiente. Questo ha reso il calcolo delle derivate coerente con la scala dei parametri, evitando aggiornamenti minuscoli.</a:t>
            </a:r>
          </a:p>
        </p:txBody>
      </p:sp>
    </p:spTree>
    <p:extLst>
      <p:ext uri="{BB962C8B-B14F-4D97-AF65-F5344CB8AC3E}">
        <p14:creationId xmlns:p14="http://schemas.microsoft.com/office/powerpoint/2010/main" val="297759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580F-3CF2-8FA7-45AF-67081168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530282E4-6066-3EB9-97EA-DAB739404825}"/>
              </a:ext>
            </a:extLst>
          </p:cNvPr>
          <p:cNvSpPr>
            <a:spLocks/>
          </p:cNvSpPr>
          <p:nvPr/>
        </p:nvSpPr>
        <p:spPr>
          <a:xfrm>
            <a:off x="-60960" y="1740599"/>
            <a:ext cx="12313920" cy="5124995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9B67700-DF81-C66A-DFB1-8A7B0A29E943}"/>
              </a:ext>
            </a:extLst>
          </p:cNvPr>
          <p:cNvSpPr>
            <a:spLocks/>
          </p:cNvSpPr>
          <p:nvPr/>
        </p:nvSpPr>
        <p:spPr>
          <a:xfrm>
            <a:off x="-60960" y="1733005"/>
            <a:ext cx="12313920" cy="5124995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0D17003-A893-8BCA-37CA-A2F2741191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1920" y="1733005"/>
            <a:ext cx="12313920" cy="5124995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10A0F9B-F68D-4E85-A4A4-1949813E9414}"/>
              </a:ext>
            </a:extLst>
          </p:cNvPr>
          <p:cNvGrpSpPr/>
          <p:nvPr/>
        </p:nvGrpSpPr>
        <p:grpSpPr>
          <a:xfrm>
            <a:off x="648789" y="540087"/>
            <a:ext cx="6979919" cy="903352"/>
            <a:chOff x="648789" y="714265"/>
            <a:chExt cx="6979919" cy="903352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30D39BB-EF7A-3C11-EC72-CB12EE2A573A}"/>
                </a:ext>
              </a:extLst>
            </p:cNvPr>
            <p:cNvSpPr>
              <a:spLocks/>
            </p:cNvSpPr>
            <p:nvPr/>
          </p:nvSpPr>
          <p:spPr>
            <a:xfrm>
              <a:off x="3945151" y="714265"/>
              <a:ext cx="2447103" cy="894806"/>
            </a:xfrm>
            <a:prstGeom prst="rect">
              <a:avLst/>
            </a:prstGeom>
            <a:solidFill>
              <a:srgbClr val="FFB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BAB4C3-8D22-70F2-0407-F90C0AE29998}"/>
                </a:ext>
              </a:extLst>
            </p:cNvPr>
            <p:cNvSpPr txBox="1"/>
            <p:nvPr/>
          </p:nvSpPr>
          <p:spPr>
            <a:xfrm>
              <a:off x="648789" y="786620"/>
              <a:ext cx="69799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800" b="1" dirty="0">
                  <a:latin typeface="Helvetica" pitchFamily="2" charset="0"/>
                </a:rPr>
                <a:t>VERSIONE FINALE</a:t>
              </a:r>
              <a:endParaRPr lang="it-IT" sz="4800" b="1" noProof="0" dirty="0">
                <a:latin typeface="Helvetica" pitchFamily="2" charset="0"/>
              </a:endParaRPr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8047BD1E-0B58-D9D9-BB90-6818EF5432D7}"/>
              </a:ext>
            </a:extLst>
          </p:cNvPr>
          <p:cNvGrpSpPr/>
          <p:nvPr/>
        </p:nvGrpSpPr>
        <p:grpSpPr>
          <a:xfrm>
            <a:off x="465904" y="4303097"/>
            <a:ext cx="7789814" cy="2112206"/>
            <a:chOff x="631375" y="4574727"/>
            <a:chExt cx="7789814" cy="2112206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62155BDE-0032-6232-9BDD-AE12B74F0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48789" y="4891110"/>
              <a:ext cx="7772400" cy="1795823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69D96335-A9F7-6FB4-D927-30E8E2F98436}"/>
                </a:ext>
              </a:extLst>
            </p:cNvPr>
            <p:cNvSpPr txBox="1"/>
            <p:nvPr/>
          </p:nvSpPr>
          <p:spPr>
            <a:xfrm>
              <a:off x="631375" y="4574727"/>
              <a:ext cx="6905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noProof="0" dirty="0">
                  <a:solidFill>
                    <a:schemeClr val="bg1"/>
                  </a:solidFill>
                  <a:latin typeface="Helvetica" pitchFamily="2" charset="0"/>
                </a:rPr>
                <a:t>RISULTATI SU VALIDATION SET </a:t>
              </a:r>
              <a:r>
                <a:rPr lang="it-IT" b="1" noProof="0" dirty="0">
                  <a:solidFill>
                    <a:schemeClr val="bg1"/>
                  </a:solidFill>
                  <a:latin typeface="Helvetica" pitchFamily="2" charset="0"/>
                </a:rPr>
                <a:t>CON SFOCATURA</a:t>
              </a:r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FA8387-355F-6C14-D03B-2C9D72578C88}"/>
              </a:ext>
            </a:extLst>
          </p:cNvPr>
          <p:cNvSpPr txBox="1"/>
          <p:nvPr/>
        </p:nvSpPr>
        <p:spPr>
          <a:xfrm>
            <a:off x="8510445" y="2237082"/>
            <a:ext cx="327006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4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Prima di considerare definitivi i risultati ottenuti sul validation set e scegliere la configurazione migliore da applicare al test set, ho deciso di verificare l’effetto di un leggero preprocessing basato su </a:t>
            </a:r>
            <a:r>
              <a:rPr lang="it-IT" sz="1400" b="1" noProof="0" dirty="0">
                <a:solidFill>
                  <a:schemeClr val="bg1"/>
                </a:solidFill>
                <a:latin typeface="Helvetica" pitchFamily="2" charset="0"/>
              </a:rPr>
              <a:t>Gaussian Blur.</a:t>
            </a:r>
          </a:p>
          <a:p>
            <a:pPr algn="just"/>
            <a:endParaRPr lang="it-IT" sz="1400" noProof="0" dirty="0">
              <a:solidFill>
                <a:schemeClr val="bg1"/>
              </a:solidFill>
              <a:latin typeface="Helvetica Light" panose="020B0403020202020204" pitchFamily="34" charset="0"/>
            </a:endParaRPr>
          </a:p>
          <a:p>
            <a:pPr algn="just"/>
            <a:r>
              <a:rPr lang="it-IT" sz="14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Con mia sorpresa, </a:t>
            </a:r>
            <a:r>
              <a:rPr lang="it-IT" sz="1400" b="1" noProof="0" dirty="0">
                <a:solidFill>
                  <a:schemeClr val="bg1"/>
                </a:solidFill>
                <a:latin typeface="Helvetica" pitchFamily="2" charset="0"/>
              </a:rPr>
              <a:t>i risultati sono migliorati in modo evidente</a:t>
            </a:r>
            <a:r>
              <a:rPr lang="it-IT" sz="14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: l’RMSE è risultato generalmente più basso, così come l’errore medio, sia sulla stima dell’angolo sia sulle traslazioni lungo gli assi x e y. </a:t>
            </a:r>
          </a:p>
          <a:p>
            <a:pPr algn="just"/>
            <a:endParaRPr lang="it-IT" sz="1400" noProof="0" dirty="0">
              <a:solidFill>
                <a:schemeClr val="bg1"/>
              </a:solidFill>
              <a:latin typeface="Helvetica Light" panose="020B0403020202020204" pitchFamily="34" charset="0"/>
            </a:endParaRPr>
          </a:p>
          <a:p>
            <a:pPr algn="just"/>
            <a:r>
              <a:rPr lang="it-IT" sz="1400" b="1" noProof="0" dirty="0">
                <a:solidFill>
                  <a:schemeClr val="bg1"/>
                </a:solidFill>
                <a:latin typeface="Helvetica" pitchFamily="2" charset="0"/>
              </a:rPr>
              <a:t>È diminuita sensibilmente anche la deviazione standard</a:t>
            </a:r>
            <a:r>
              <a:rPr lang="it-IT" sz="1400" noProof="0" dirty="0">
                <a:solidFill>
                  <a:schemeClr val="bg1"/>
                </a:solidFill>
                <a:latin typeface="Helvetica Light" panose="020B0403020202020204" pitchFamily="34" charset="0"/>
              </a:rPr>
              <a:t>, un aspetto importante perché indica una maggiore stabilità del metodo oltre che una migliore accuratezza.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58D0081-4A85-768B-40AB-5EB6F1C5BBDF}"/>
              </a:ext>
            </a:extLst>
          </p:cNvPr>
          <p:cNvGrpSpPr/>
          <p:nvPr/>
        </p:nvGrpSpPr>
        <p:grpSpPr>
          <a:xfrm>
            <a:off x="465904" y="1966047"/>
            <a:ext cx="7798526" cy="2066015"/>
            <a:chOff x="1251857" y="2969748"/>
            <a:chExt cx="7798526" cy="2066015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7A9FDA8F-7CBD-4F40-5A2D-049817E26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531"/>
            <a:stretch>
              <a:fillRect/>
            </a:stretch>
          </p:blipFill>
          <p:spPr>
            <a:xfrm>
              <a:off x="1277983" y="3239940"/>
              <a:ext cx="7772400" cy="1795823"/>
            </a:xfrm>
            <a:prstGeom prst="rect">
              <a:avLst/>
            </a:prstGeom>
          </p:spPr>
        </p:pic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DDE213F1-4F4B-D134-4A03-DED47A10CA86}"/>
                </a:ext>
              </a:extLst>
            </p:cNvPr>
            <p:cNvSpPr txBox="1"/>
            <p:nvPr/>
          </p:nvSpPr>
          <p:spPr>
            <a:xfrm>
              <a:off x="1251857" y="2969748"/>
              <a:ext cx="7363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noProof="0" dirty="0">
                  <a:solidFill>
                    <a:schemeClr val="bg1"/>
                  </a:solidFill>
                  <a:latin typeface="Helvetica" pitchFamily="2" charset="0"/>
                </a:rPr>
                <a:t>RISULTATI SU VALIDATION SET </a:t>
              </a:r>
              <a:r>
                <a:rPr lang="it-IT" b="1" noProof="0" dirty="0">
                  <a:solidFill>
                    <a:schemeClr val="bg1"/>
                  </a:solidFill>
                  <a:latin typeface="Helvetica" pitchFamily="2" charset="0"/>
                </a:rPr>
                <a:t>SENZA SFOCATURA </a:t>
              </a:r>
            </a:p>
          </p:txBody>
        </p:sp>
      </p:grpSp>
      <p:sp>
        <p:nvSpPr>
          <p:cNvPr id="23" name="Rettangolo 22">
            <a:extLst>
              <a:ext uri="{FF2B5EF4-FFF2-40B4-BE49-F238E27FC236}">
                <a16:creationId xmlns:a16="http://schemas.microsoft.com/office/drawing/2014/main" id="{8AC0A169-A6B1-47A3-5990-00F85ACDC631}"/>
              </a:ext>
            </a:extLst>
          </p:cNvPr>
          <p:cNvSpPr/>
          <p:nvPr/>
        </p:nvSpPr>
        <p:spPr>
          <a:xfrm>
            <a:off x="465903" y="5168732"/>
            <a:ext cx="7519857" cy="150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932E554-2893-8FDA-21D4-FEC9390E82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89175"/>
            <a:ext cx="12192000" cy="442697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5A70DB91-2DF5-D20B-C1A3-EB3B47EDF4D3}"/>
              </a:ext>
            </a:extLst>
          </p:cNvPr>
          <p:cNvSpPr>
            <a:spLocks/>
          </p:cNvSpPr>
          <p:nvPr/>
        </p:nvSpPr>
        <p:spPr>
          <a:xfrm>
            <a:off x="6163494" y="2030857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noProof="0" dirty="0">
                <a:solidFill>
                  <a:schemeClr val="tx1"/>
                </a:solidFill>
                <a:latin typeface="Helvetica" pitchFamily="2" charset="0"/>
              </a:rPr>
              <a:t>PRIMA</a:t>
            </a:r>
            <a:endParaRPr lang="it-IT" noProof="0" dirty="0">
              <a:solidFill>
                <a:schemeClr val="tx1"/>
              </a:solidFill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3BB37C2-B3C0-DF96-9F35-85B3A310E715}"/>
              </a:ext>
            </a:extLst>
          </p:cNvPr>
          <p:cNvSpPr>
            <a:spLocks/>
          </p:cNvSpPr>
          <p:nvPr/>
        </p:nvSpPr>
        <p:spPr>
          <a:xfrm>
            <a:off x="6163493" y="4416366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  <a:latin typeface="Helvetica" pitchFamily="2" charset="0"/>
              </a:rPr>
              <a:t>DOPO</a:t>
            </a:r>
            <a:endParaRPr lang="it-IT" noProof="0" dirty="0">
              <a:solidFill>
                <a:schemeClr val="tx1"/>
              </a:solidFill>
            </a:endParaRPr>
          </a:p>
        </p:txBody>
      </p:sp>
      <p:cxnSp>
        <p:nvCxnSpPr>
          <p:cNvPr id="28" name="Connettore dritto 27">
            <a:extLst>
              <a:ext uri="{FF2B5EF4-FFF2-40B4-BE49-F238E27FC236}">
                <a16:creationId xmlns:a16="http://schemas.microsoft.com/office/drawing/2014/main" id="{7F997380-9AB6-DCE7-0694-2FFA15020388}"/>
              </a:ext>
            </a:extLst>
          </p:cNvPr>
          <p:cNvCxnSpPr>
            <a:cxnSpLocks/>
          </p:cNvCxnSpPr>
          <p:nvPr/>
        </p:nvCxnSpPr>
        <p:spPr>
          <a:xfrm>
            <a:off x="483322" y="4193526"/>
            <a:ext cx="7502438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45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F64B-3965-4E63-6192-D093B51F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61DB111C-079C-F5E3-FB9D-427CD9C03A23}"/>
              </a:ext>
            </a:extLst>
          </p:cNvPr>
          <p:cNvSpPr>
            <a:spLocks/>
          </p:cNvSpPr>
          <p:nvPr/>
        </p:nvSpPr>
        <p:spPr>
          <a:xfrm>
            <a:off x="992777" y="754715"/>
            <a:ext cx="3274423" cy="89480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172554-D278-ED83-A45E-702C72BAEE1F}"/>
              </a:ext>
            </a:extLst>
          </p:cNvPr>
          <p:cNvSpPr txBox="1"/>
          <p:nvPr/>
        </p:nvSpPr>
        <p:spPr>
          <a:xfrm>
            <a:off x="648789" y="786620"/>
            <a:ext cx="6979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noProof="0" dirty="0">
                <a:latin typeface="Helvetica" pitchFamily="2" charset="0"/>
              </a:rPr>
              <a:t>I RISULTATI </a:t>
            </a:r>
            <a:r>
              <a:rPr lang="it-IT" b="1" noProof="0" dirty="0">
                <a:latin typeface="Helvetica" pitchFamily="2" charset="0"/>
              </a:rPr>
              <a:t>🎉</a:t>
            </a:r>
            <a:endParaRPr lang="it-IT" sz="4800" b="1" noProof="0" dirty="0">
              <a:latin typeface="Helvetica" pitchFamily="2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3AC387D-67FC-18BD-BA17-AEAAC8DFCD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37653" y="3074125"/>
            <a:ext cx="12457471" cy="3887113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4DE0661-34E4-B13C-0D1A-6CCD4FE28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9"/>
          <a:stretch>
            <a:fillRect/>
          </a:stretch>
        </p:blipFill>
        <p:spPr>
          <a:xfrm>
            <a:off x="648789" y="3429000"/>
            <a:ext cx="11199223" cy="309737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342C1B-3CA9-C3D7-1536-9C3D5D9034F3}"/>
              </a:ext>
            </a:extLst>
          </p:cNvPr>
          <p:cNvSpPr txBox="1"/>
          <p:nvPr/>
        </p:nvSpPr>
        <p:spPr>
          <a:xfrm>
            <a:off x="648789" y="1951672"/>
            <a:ext cx="1094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noProof="0" dirty="0">
                <a:latin typeface="Helvetica Light" panose="020B0403020202020204" pitchFamily="34" charset="0"/>
              </a:rPr>
              <a:t>Come si evince dalla slide precedente, il metodo ed i </a:t>
            </a:r>
            <a:r>
              <a:rPr lang="it-IT" sz="1600" dirty="0">
                <a:latin typeface="Helvetica Light" panose="020B0403020202020204" pitchFamily="34" charset="0"/>
              </a:rPr>
              <a:t>bin che producono generalmente risultati migliori sono </a:t>
            </a:r>
          </a:p>
          <a:p>
            <a:pPr algn="just"/>
            <a:r>
              <a:rPr lang="it-IT" sz="1600" b="1" dirty="0" err="1">
                <a:latin typeface="Helvetica" pitchFamily="2" charset="0"/>
              </a:rPr>
              <a:t>Nelder</a:t>
            </a:r>
            <a:r>
              <a:rPr lang="it-IT" sz="1600" b="1" dirty="0">
                <a:latin typeface="Helvetica" pitchFamily="2" charset="0"/>
              </a:rPr>
              <a:t>-Mead </a:t>
            </a:r>
            <a:r>
              <a:rPr lang="it-IT" sz="1600" dirty="0">
                <a:latin typeface="Helvetica Light" panose="020B0403020202020204" pitchFamily="34" charset="0"/>
              </a:rPr>
              <a:t>e</a:t>
            </a:r>
            <a:r>
              <a:rPr lang="it-IT" sz="1600" b="1" dirty="0">
                <a:latin typeface="Helvetica" pitchFamily="2" charset="0"/>
              </a:rPr>
              <a:t> 64 BIN. </a:t>
            </a:r>
            <a:r>
              <a:rPr lang="it-IT" sz="1600" dirty="0">
                <a:latin typeface="Helvetica Light" panose="020B0403020202020204" pitchFamily="34" charset="0"/>
              </a:rPr>
              <a:t>La tabella che segue riporta i parametri calcolati sul </a:t>
            </a:r>
            <a:r>
              <a:rPr lang="it-IT" sz="1600" b="1" dirty="0">
                <a:latin typeface="Helvetica" pitchFamily="2" charset="0"/>
              </a:rPr>
              <a:t>test set:</a:t>
            </a:r>
            <a:endParaRPr lang="it-IT" sz="1600" b="1" noProof="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30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37EE-2F54-36FB-8259-2467950E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6F1ACB1-3F65-AEC4-5461-68E673B1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07"/>
          <a:stretch>
            <a:fillRect/>
          </a:stretch>
        </p:blipFill>
        <p:spPr>
          <a:xfrm>
            <a:off x="0" y="-1"/>
            <a:ext cx="12184137" cy="3136613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D0C78C93-0C6E-D973-68CC-C88B3D8F208F}"/>
              </a:ext>
            </a:extLst>
          </p:cNvPr>
          <p:cNvGrpSpPr/>
          <p:nvPr/>
        </p:nvGrpSpPr>
        <p:grpSpPr>
          <a:xfrm>
            <a:off x="3586657" y="3136613"/>
            <a:ext cx="5018687" cy="584775"/>
            <a:chOff x="1306696" y="838053"/>
            <a:chExt cx="9749492" cy="651502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8B1BFD7A-A98E-B990-698F-1467E9492710}"/>
                </a:ext>
              </a:extLst>
            </p:cNvPr>
            <p:cNvSpPr>
              <a:spLocks/>
            </p:cNvSpPr>
            <p:nvPr/>
          </p:nvSpPr>
          <p:spPr>
            <a:xfrm>
              <a:off x="4825318" y="859961"/>
              <a:ext cx="4059249" cy="575631"/>
            </a:xfrm>
            <a:prstGeom prst="rect">
              <a:avLst/>
            </a:prstGeom>
            <a:solidFill>
              <a:srgbClr val="FFB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87B9AC25-98B6-49D2-2690-599CCF50EC21}"/>
                </a:ext>
              </a:extLst>
            </p:cNvPr>
            <p:cNvSpPr txBox="1"/>
            <p:nvPr/>
          </p:nvSpPr>
          <p:spPr>
            <a:xfrm>
              <a:off x="1306696" y="838053"/>
              <a:ext cx="9749492" cy="651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200" b="1" noProof="0" dirty="0">
                  <a:latin typeface="Helvetica" pitchFamily="2" charset="0"/>
                </a:rPr>
                <a:t>ALCUNE IMMAGINI</a:t>
              </a:r>
            </a:p>
          </p:txBody>
        </p:sp>
      </p:grpSp>
      <p:pic>
        <p:nvPicPr>
          <p:cNvPr id="19" name="Immagine 18">
            <a:extLst>
              <a:ext uri="{FF2B5EF4-FFF2-40B4-BE49-F238E27FC236}">
                <a16:creationId xmlns:a16="http://schemas.microsoft.com/office/drawing/2014/main" id="{6D24A049-AD76-5775-7DF2-EB4BB41C1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2" b="941"/>
          <a:stretch>
            <a:fillRect/>
          </a:stretch>
        </p:blipFill>
        <p:spPr>
          <a:xfrm>
            <a:off x="0" y="3747042"/>
            <a:ext cx="12186157" cy="3136613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23BA9EE2-D07A-C208-54FD-05015BEDB96E}"/>
              </a:ext>
            </a:extLst>
          </p:cNvPr>
          <p:cNvSpPr>
            <a:spLocks/>
          </p:cNvSpPr>
          <p:nvPr/>
        </p:nvSpPr>
        <p:spPr>
          <a:xfrm>
            <a:off x="146152" y="3182203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noProof="0" dirty="0">
                <a:solidFill>
                  <a:schemeClr val="tx1"/>
                </a:solidFill>
                <a:latin typeface="Helvetica" pitchFamily="2" charset="0"/>
              </a:rPr>
              <a:t>C5 </a:t>
            </a:r>
            <a:r>
              <a:rPr lang="it-IT" dirty="0">
                <a:solidFill>
                  <a:schemeClr val="tx1"/>
                </a:solidFill>
              </a:rPr>
              <a:t>▲</a:t>
            </a:r>
            <a:endParaRPr lang="it-IT" noProof="0" dirty="0">
              <a:solidFill>
                <a:schemeClr val="tx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FB5FA9B5-9F53-992B-F5D6-24FBAA9564FD}"/>
              </a:ext>
            </a:extLst>
          </p:cNvPr>
          <p:cNvSpPr>
            <a:spLocks/>
          </p:cNvSpPr>
          <p:nvPr/>
        </p:nvSpPr>
        <p:spPr>
          <a:xfrm>
            <a:off x="10240999" y="3176518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▼</a:t>
            </a:r>
            <a:r>
              <a:rPr lang="it-IT" b="1" dirty="0"/>
              <a:t> </a:t>
            </a:r>
            <a:r>
              <a:rPr lang="it-IT" b="1" dirty="0">
                <a:solidFill>
                  <a:schemeClr val="tx1"/>
                </a:solidFill>
                <a:latin typeface="Helvetica" pitchFamily="2" charset="0"/>
              </a:rPr>
              <a:t>C8</a:t>
            </a:r>
            <a:endParaRPr lang="it-IT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02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00D4D-BCEC-1A7B-ED1C-473521D9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AE298F03-483C-A950-CEF5-AF512D074EA5}"/>
              </a:ext>
            </a:extLst>
          </p:cNvPr>
          <p:cNvGrpSpPr/>
          <p:nvPr/>
        </p:nvGrpSpPr>
        <p:grpSpPr>
          <a:xfrm>
            <a:off x="3586657" y="3136613"/>
            <a:ext cx="5018687" cy="584775"/>
            <a:chOff x="1306696" y="838053"/>
            <a:chExt cx="9749492" cy="651502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227DB713-390D-D70E-EAE1-E59FF52975EE}"/>
                </a:ext>
              </a:extLst>
            </p:cNvPr>
            <p:cNvSpPr>
              <a:spLocks/>
            </p:cNvSpPr>
            <p:nvPr/>
          </p:nvSpPr>
          <p:spPr>
            <a:xfrm>
              <a:off x="4825318" y="859961"/>
              <a:ext cx="4059249" cy="575631"/>
            </a:xfrm>
            <a:prstGeom prst="rect">
              <a:avLst/>
            </a:prstGeom>
            <a:solidFill>
              <a:srgbClr val="FFB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9E806982-2AF2-5282-AF55-7E367B37A7D6}"/>
                </a:ext>
              </a:extLst>
            </p:cNvPr>
            <p:cNvSpPr txBox="1"/>
            <p:nvPr/>
          </p:nvSpPr>
          <p:spPr>
            <a:xfrm>
              <a:off x="1306696" y="838053"/>
              <a:ext cx="9749492" cy="651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200" b="1" noProof="0" dirty="0">
                  <a:latin typeface="Helvetica" pitchFamily="2" charset="0"/>
                </a:rPr>
                <a:t>ALCUNE IMMAGINI</a:t>
              </a:r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E948B9E5-CF3B-ED44-DAA0-F077959C6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0"/>
          <a:stretch>
            <a:fillRect/>
          </a:stretch>
        </p:blipFill>
        <p:spPr>
          <a:xfrm>
            <a:off x="0" y="0"/>
            <a:ext cx="12184232" cy="314817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E089388-4BCC-F024-88D3-052626AA5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08"/>
          <a:stretch>
            <a:fillRect/>
          </a:stretch>
        </p:blipFill>
        <p:spPr>
          <a:xfrm>
            <a:off x="0" y="3721389"/>
            <a:ext cx="12184232" cy="3136612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4B178FA-700E-6CC8-9C1B-C0576B1776BA}"/>
              </a:ext>
            </a:extLst>
          </p:cNvPr>
          <p:cNvSpPr>
            <a:spLocks/>
          </p:cNvSpPr>
          <p:nvPr/>
        </p:nvSpPr>
        <p:spPr>
          <a:xfrm>
            <a:off x="146152" y="3182203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noProof="0" dirty="0">
                <a:solidFill>
                  <a:schemeClr val="tx1"/>
                </a:solidFill>
                <a:latin typeface="Helvetica" pitchFamily="2" charset="0"/>
              </a:rPr>
              <a:t>C1 </a:t>
            </a:r>
            <a:r>
              <a:rPr lang="it-IT" dirty="0">
                <a:solidFill>
                  <a:schemeClr val="tx1"/>
                </a:solidFill>
              </a:rPr>
              <a:t>▲</a:t>
            </a:r>
            <a:endParaRPr lang="it-IT" noProof="0" dirty="0">
              <a:solidFill>
                <a:schemeClr val="tx1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492784-2A70-DDE8-1095-04480907D547}"/>
              </a:ext>
            </a:extLst>
          </p:cNvPr>
          <p:cNvSpPr>
            <a:spLocks/>
          </p:cNvSpPr>
          <p:nvPr/>
        </p:nvSpPr>
        <p:spPr>
          <a:xfrm>
            <a:off x="10240999" y="3227794"/>
            <a:ext cx="1804849" cy="49359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▼</a:t>
            </a:r>
            <a:r>
              <a:rPr lang="it-IT" b="1" dirty="0"/>
              <a:t> </a:t>
            </a:r>
            <a:r>
              <a:rPr lang="it-IT" b="1" dirty="0">
                <a:solidFill>
                  <a:schemeClr val="tx1"/>
                </a:solidFill>
                <a:latin typeface="Helvetica" pitchFamily="2" charset="0"/>
              </a:rPr>
              <a:t>C4</a:t>
            </a:r>
            <a:endParaRPr lang="it-IT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94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4616-509B-BD37-72CA-13E5EEA0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7E7EE6-6E70-44C8-470B-547B7C6573D0}"/>
              </a:ext>
            </a:extLst>
          </p:cNvPr>
          <p:cNvSpPr txBox="1"/>
          <p:nvPr/>
        </p:nvSpPr>
        <p:spPr>
          <a:xfrm>
            <a:off x="700755" y="734939"/>
            <a:ext cx="106395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>
                <a:latin typeface="Helvetica Light" panose="020B0403020202020204" pitchFamily="34" charset="0"/>
              </a:rPr>
              <a:t>Statement su uso IA:</a:t>
            </a:r>
          </a:p>
          <a:p>
            <a:pPr algn="just"/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>
                <a:latin typeface="Helvetica Light" panose="020B0403020202020204" pitchFamily="34" charset="0"/>
              </a:rPr>
              <a:t>Per cercare una soluzione al primo problema, mi ha aiutato a eseguire un debug estensivo della funzione </a:t>
            </a:r>
            <a:r>
              <a:rPr lang="it-IT" sz="1600" dirty="0" err="1">
                <a:latin typeface="Helvetica Light" panose="020B0403020202020204" pitchFamily="34" charset="0"/>
              </a:rPr>
              <a:t>minimize</a:t>
            </a:r>
            <a:r>
              <a:rPr lang="it-IT" sz="1600" dirty="0">
                <a:latin typeface="Helvetica Light" panose="020B0403020202020204" pitchFamily="34" charset="0"/>
              </a:rPr>
              <a:t>() di scipy, per capire cosa originasse il problema.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>
                <a:latin typeface="Helvetica Light" panose="020B0403020202020204" pitchFamily="34" charset="0"/>
              </a:rPr>
              <a:t>Ho migliorato la funzione </a:t>
            </a:r>
            <a:r>
              <a:rPr lang="it-IT" sz="1600" dirty="0" err="1">
                <a:latin typeface="Helvetica Light" panose="020B0403020202020204" pitchFamily="34" charset="0"/>
              </a:rPr>
              <a:t>plot_risultato</a:t>
            </a:r>
            <a:r>
              <a:rPr lang="it-IT" sz="1600" dirty="0">
                <a:latin typeface="Helvetica Light" panose="020B0403020202020204" pitchFamily="34" charset="0"/>
              </a:rPr>
              <a:t>() aggiungendo dettagli e parametri di </a:t>
            </a:r>
            <a:r>
              <a:rPr lang="it-IT" sz="1600" dirty="0" err="1">
                <a:latin typeface="Helvetica Light" panose="020B0403020202020204" pitchFamily="34" charset="0"/>
              </a:rPr>
              <a:t>matplotlib</a:t>
            </a:r>
            <a:r>
              <a:rPr lang="it-IT" sz="1600" dirty="0">
                <a:latin typeface="Helvetica Light" panose="020B0403020202020204" pitchFamily="34" charset="0"/>
              </a:rPr>
              <a:t>, in modo da ottenere in output un file PNG strutturato come desideravo, adatto anche per le slide di presentazione.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>
                <a:latin typeface="Helvetica Light" panose="020B0403020202020204" pitchFamily="34" charset="0"/>
              </a:rPr>
              <a:t>Per scrivere interamente la funzione </a:t>
            </a:r>
            <a:r>
              <a:rPr lang="it-IT" sz="1600" dirty="0" err="1">
                <a:latin typeface="Helvetica Light" panose="020B0403020202020204" pitchFamily="34" charset="0"/>
              </a:rPr>
              <a:t>load_dataset</a:t>
            </a:r>
            <a:r>
              <a:rPr lang="it-IT" sz="1600" dirty="0">
                <a:latin typeface="Helvetica Light" panose="020B0403020202020204" pitchFamily="34" charset="0"/>
              </a:rPr>
              <a:t>(), che carica in memoria le foto. Piccola nota: la funzione è in realtà un generatore, quindi non tutte le foto rimangono in memoria contemporaneamente. In alcuni punti del programma, però, ho la necessità di averle tutte contemporaneamente.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latin typeface="Helvetica Light" panose="020B0403020202020204" pitchFamily="34" charset="0"/>
            </a:endParaRPr>
          </a:p>
          <a:p>
            <a:pPr algn="just"/>
            <a:r>
              <a:rPr lang="it-IT" sz="1600" dirty="0">
                <a:latin typeface="Helvetica Light" panose="020B0403020202020204" pitchFamily="34" charset="0"/>
              </a:rPr>
              <a:t>Note:</a:t>
            </a:r>
          </a:p>
          <a:p>
            <a:pPr algn="just"/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>
                <a:latin typeface="Helvetica Light" panose="020B0403020202020204" pitchFamily="34" charset="0"/>
              </a:rPr>
              <a:t>Nella cartella consegnata sono presenti due directory che contengono </a:t>
            </a:r>
            <a:r>
              <a:rPr lang="it-IT" sz="1600" dirty="0">
                <a:latin typeface="Helvetica Light" panose="020B0403020202020204" pitchFamily="34" charset="0"/>
              </a:rPr>
              <a:t>tutte</a:t>
            </a:r>
            <a:r>
              <a:rPr lang="it-IT" sz="1600" dirty="0">
                <a:latin typeface="Helvetica Light" panose="020B0403020202020204" pitchFamily="34" charset="0"/>
              </a:rPr>
              <a:t> le coppie di immagini (statica, allineata e differenza) e il relativo grafico sull’andamento della MI, suddiviso per validation e test set. </a:t>
            </a:r>
            <a:r>
              <a:rPr lang="it-IT" sz="1600" b="1" dirty="0">
                <a:latin typeface="Helvetica" pitchFamily="2" charset="0"/>
              </a:rPr>
              <a:t>Per motivi di spazio massimo imposto da gmail, per la consegna ho dovuto cancellarne una buona parte</a:t>
            </a:r>
            <a:r>
              <a:rPr lang="it-IT" sz="1600" b="1">
                <a:latin typeface="Helvetica" pitchFamily="2" charset="0"/>
              </a:rPr>
              <a:t>; avviare il </a:t>
            </a:r>
            <a:r>
              <a:rPr lang="it-IT" sz="1600" b="1" dirty="0">
                <a:latin typeface="Helvetica" pitchFamily="2" charset="0"/>
              </a:rPr>
              <a:t>codice le </a:t>
            </a:r>
            <a:r>
              <a:rPr lang="it-IT" sz="1600" b="1">
                <a:latin typeface="Helvetica" pitchFamily="2" charset="0"/>
              </a:rPr>
              <a:t>rigenera tutte.</a:t>
            </a:r>
            <a:endParaRPr lang="it-IT" sz="1600" b="1" dirty="0">
              <a:latin typeface="Helvetica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latin typeface="Helvetica Light" panose="020B04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>
                <a:latin typeface="Helvetica Light" panose="020B0403020202020204" pitchFamily="34" charset="0"/>
              </a:rPr>
              <a:t>I due file di script contengono, nella parte iniziale, variabili globali per modificare il </a:t>
            </a:r>
            <a:r>
              <a:rPr lang="it-IT" sz="1600" dirty="0" err="1">
                <a:latin typeface="Helvetica Light" panose="020B0403020202020204" pitchFamily="34" charset="0"/>
              </a:rPr>
              <a:t>path</a:t>
            </a:r>
            <a:r>
              <a:rPr lang="it-IT" sz="1600" dirty="0">
                <a:latin typeface="Helvetica Light" panose="020B0403020202020204" pitchFamily="34" charset="0"/>
              </a:rPr>
              <a:t> del dataset.</a:t>
            </a:r>
          </a:p>
        </p:txBody>
      </p:sp>
    </p:spTree>
    <p:extLst>
      <p:ext uri="{BB962C8B-B14F-4D97-AF65-F5344CB8AC3E}">
        <p14:creationId xmlns:p14="http://schemas.microsoft.com/office/powerpoint/2010/main" val="37905314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774</Words>
  <Application>Microsoft Macintosh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Helvetica</vt:lpstr>
      <vt:lpstr>HELVETICA LIGHT</vt:lpstr>
      <vt:lpstr>HELVETICA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BARONE</dc:creator>
  <cp:lastModifiedBy>ENRICO BARONE</cp:lastModifiedBy>
  <cp:revision>31</cp:revision>
  <dcterms:created xsi:type="dcterms:W3CDTF">2026-04-08T10:05:09Z</dcterms:created>
  <dcterms:modified xsi:type="dcterms:W3CDTF">2026-04-09T19:25:57Z</dcterms:modified>
</cp:coreProperties>
</file>